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drive.google.com/file/d/1nXRLVTSHXGXnpqGQ69AEo9MR9RgUX6C0/view?usp=sharing" TargetMode="External"/><Relationship Id="rId4" Type="http://schemas.openxmlformats.org/officeDocument/2006/relationships/hyperlink" Target="https://gamma.app" TargetMode="External"/><Relationship Id="rId1" Type="http://schemas.openxmlformats.org/officeDocument/2006/relationships/image" Target="../media/image-3-1.png"/><Relationship Id="rId3"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MZf8UVNwEJtzLY0EFo3ZuBs-9qucfN0O/view?usp=sharing" TargetMode="External"/><Relationship Id="rId5"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7620" y="0"/>
            <a:ext cx="5486400" cy="8229600"/>
          </a:xfrm>
          <a:prstGeom prst="rect">
            <a:avLst/>
          </a:prstGeom>
        </p:spPr>
      </p:pic>
      <p:sp>
        <p:nvSpPr>
          <p:cNvPr id="5" name="Text 2"/>
          <p:cNvSpPr/>
          <p:nvPr/>
        </p:nvSpPr>
        <p:spPr>
          <a:xfrm>
            <a:off x="6319599" y="2323386"/>
            <a:ext cx="7477601" cy="1916430"/>
          </a:xfrm>
          <a:prstGeom prst="rect">
            <a:avLst/>
          </a:prstGeom>
          <a:noFill/>
          <a:ln/>
        </p:spPr>
        <p:txBody>
          <a:bodyPr wrap="square" rtlCol="0" anchor="t"/>
          <a:lstStyle/>
          <a:p>
            <a:pPr indent="0" marL="0">
              <a:lnSpc>
                <a:spcPts val="7545"/>
              </a:lnSpc>
              <a:buNone/>
            </a:pPr>
            <a:r>
              <a:rPr lang="en-US" sz="6036" b="1" spc="-181" kern="0" dirty="0">
                <a:solidFill>
                  <a:srgbClr val="000000"/>
                </a:solidFill>
                <a:latin typeface="Inter" pitchFamily="34" charset="0"/>
                <a:ea typeface="Inter" pitchFamily="34" charset="-122"/>
                <a:cs typeface="Inter" pitchFamily="34" charset="-120"/>
              </a:rPr>
              <a:t>DeepwaveSLM 앱 소개</a:t>
            </a:r>
            <a:endParaRPr lang="en-US" sz="6036" dirty="0"/>
          </a:p>
        </p:txBody>
      </p:sp>
      <p:sp>
        <p:nvSpPr>
          <p:cNvPr id="6" name="Text 3"/>
          <p:cNvSpPr/>
          <p:nvPr/>
        </p:nvSpPr>
        <p:spPr>
          <a:xfrm>
            <a:off x="6319599" y="4573072"/>
            <a:ext cx="7477601" cy="1333024"/>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DeepwaveSLM은 사용자의 글자 입력을 받아  OnDevice 환경에서 LLM 기술을 활용하여 실시간으로 글자를 출력하는  안드로이드 앱입니다. 이 앱의 목적은 비행기 모드에서도 사용할 수 있으며, 목적에 따라 RAG로 벡터임베딩된 SLM을 사용할 수 있게 하는 것입니다.</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2272070"/>
            <a:ext cx="5554980"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앱의 주요 도전과제</a:t>
            </a:r>
            <a:endParaRPr lang="en-US" sz="4374" dirty="0"/>
          </a:p>
        </p:txBody>
      </p:sp>
      <p:sp>
        <p:nvSpPr>
          <p:cNvPr id="5" name="Text 3"/>
          <p:cNvSpPr/>
          <p:nvPr/>
        </p:nvSpPr>
        <p:spPr>
          <a:xfrm>
            <a:off x="2037993" y="3521869"/>
            <a:ext cx="2777490" cy="347186"/>
          </a:xfrm>
          <a:prstGeom prst="rect">
            <a:avLst/>
          </a:prstGeom>
          <a:noFill/>
          <a:ln/>
        </p:spPr>
        <p:txBody>
          <a:bodyPr wrap="none" rtlCol="0" anchor="t"/>
          <a:lstStyle/>
          <a:p>
            <a:pPr indent="0" marL="0">
              <a:lnSpc>
                <a:spcPts val="2734"/>
              </a:lnSpc>
              <a:buNone/>
            </a:pPr>
            <a:r>
              <a:rPr lang="en-US" sz="2187" b="1" spc="-66" kern="0" dirty="0">
                <a:solidFill>
                  <a:srgbClr val="000000"/>
                </a:solidFill>
                <a:latin typeface="Inter" pitchFamily="34" charset="0"/>
                <a:ea typeface="Inter" pitchFamily="34" charset="-122"/>
                <a:cs typeface="Inter" pitchFamily="34" charset="-120"/>
              </a:rPr>
              <a:t>모델의 크기와 성능</a:t>
            </a:r>
            <a:endParaRPr lang="en-US" sz="2187" dirty="0"/>
          </a:p>
        </p:txBody>
      </p:sp>
      <p:sp>
        <p:nvSpPr>
          <p:cNvPr id="6" name="Text 4"/>
          <p:cNvSpPr/>
          <p:nvPr/>
        </p:nvSpPr>
        <p:spPr>
          <a:xfrm>
            <a:off x="2037993" y="4091226"/>
            <a:ext cx="3156347" cy="1333024"/>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언어 모델은 많은 자원을 소비합니다. 이를 모바일 디바이스에서 실행 가능하도록 최적화하는 것이 큰 도전 과제였습니다</a:t>
            </a:r>
            <a:endParaRPr lang="en-US" sz="1750" dirty="0"/>
          </a:p>
        </p:txBody>
      </p:sp>
      <p:sp>
        <p:nvSpPr>
          <p:cNvPr id="7" name="Text 5"/>
          <p:cNvSpPr/>
          <p:nvPr/>
        </p:nvSpPr>
        <p:spPr>
          <a:xfrm>
            <a:off x="5743932" y="3521869"/>
            <a:ext cx="2777490" cy="347186"/>
          </a:xfrm>
          <a:prstGeom prst="rect">
            <a:avLst/>
          </a:prstGeom>
          <a:noFill/>
          <a:ln/>
        </p:spPr>
        <p:txBody>
          <a:bodyPr wrap="none" rtlCol="0" anchor="t"/>
          <a:lstStyle/>
          <a:p>
            <a:pPr indent="0" marL="0">
              <a:lnSpc>
                <a:spcPts val="2734"/>
              </a:lnSpc>
              <a:buNone/>
            </a:pPr>
            <a:r>
              <a:rPr lang="en-US" sz="2187" b="1" spc="-66" kern="0" dirty="0">
                <a:solidFill>
                  <a:srgbClr val="000000"/>
                </a:solidFill>
                <a:latin typeface="Inter" pitchFamily="34" charset="0"/>
                <a:ea typeface="Inter" pitchFamily="34" charset="-122"/>
                <a:cs typeface="Inter" pitchFamily="34" charset="-120"/>
              </a:rPr>
              <a:t>데이터 타입 불일치</a:t>
            </a:r>
            <a:endParaRPr lang="en-US" sz="2187" dirty="0"/>
          </a:p>
        </p:txBody>
      </p:sp>
      <p:sp>
        <p:nvSpPr>
          <p:cNvPr id="8" name="Text 6"/>
          <p:cNvSpPr/>
          <p:nvPr/>
        </p:nvSpPr>
        <p:spPr>
          <a:xfrm>
            <a:off x="5743932" y="4091226"/>
            <a:ext cx="3156347" cy="1666280"/>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TensorFlow Lite 모델을 사용할 때 자주 발생하는 문제 중 하나는 데이터 타입 불일치입니다. 특히, INT32와 FLOAT32 사이의 변환 문제가 발생했습니다.</a:t>
            </a:r>
            <a:endParaRPr lang="en-US" sz="1750" dirty="0"/>
          </a:p>
        </p:txBody>
      </p:sp>
      <p:sp>
        <p:nvSpPr>
          <p:cNvPr id="9" name="Text 7"/>
          <p:cNvSpPr/>
          <p:nvPr/>
        </p:nvSpPr>
        <p:spPr>
          <a:xfrm>
            <a:off x="9449872" y="3521869"/>
            <a:ext cx="2777490" cy="347186"/>
          </a:xfrm>
          <a:prstGeom prst="rect">
            <a:avLst/>
          </a:prstGeom>
          <a:noFill/>
          <a:ln/>
        </p:spPr>
        <p:txBody>
          <a:bodyPr wrap="none" rtlCol="0" anchor="t"/>
          <a:lstStyle/>
          <a:p>
            <a:pPr indent="0" marL="0">
              <a:lnSpc>
                <a:spcPts val="2734"/>
              </a:lnSpc>
              <a:buNone/>
            </a:pPr>
            <a:r>
              <a:rPr lang="en-US" sz="2187" b="1" spc="-66" kern="0" dirty="0">
                <a:solidFill>
                  <a:srgbClr val="000000"/>
                </a:solidFill>
                <a:latin typeface="Inter" pitchFamily="34" charset="0"/>
                <a:ea typeface="Inter" pitchFamily="34" charset="-122"/>
                <a:cs typeface="Inter" pitchFamily="34" charset="-120"/>
              </a:rPr>
              <a:t>빌드 및 종속성 문제</a:t>
            </a:r>
            <a:endParaRPr lang="en-US" sz="2187" dirty="0"/>
          </a:p>
        </p:txBody>
      </p:sp>
      <p:sp>
        <p:nvSpPr>
          <p:cNvPr id="10" name="Text 8"/>
          <p:cNvSpPr/>
          <p:nvPr/>
        </p:nvSpPr>
        <p:spPr>
          <a:xfrm>
            <a:off x="9449872" y="4091226"/>
            <a:ext cx="3156347" cy="999768"/>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Gradle 설정 및 종속성 관리 문제로 인해 빌드 과정에서 여러 차례 오류가 발생했습니다.</a:t>
            </a:r>
            <a:endParaRPr lang="en-US" sz="1750" dirty="0"/>
          </a:p>
        </p:txBody>
      </p:sp>
      <p:pic>
        <p:nvPicPr>
          <p:cNvPr id="1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2699147"/>
            <a:ext cx="5554980"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시연 작동 사진 및 영상</a:t>
            </a:r>
            <a:endParaRPr lang="en-US" sz="4374" dirty="0"/>
          </a:p>
        </p:txBody>
      </p:sp>
      <p:sp>
        <p:nvSpPr>
          <p:cNvPr id="5" name="Text 3"/>
          <p:cNvSpPr/>
          <p:nvPr/>
        </p:nvSpPr>
        <p:spPr>
          <a:xfrm>
            <a:off x="2037993" y="3837861"/>
            <a:ext cx="10554414" cy="333256"/>
          </a:xfrm>
          <a:prstGeom prst="rect">
            <a:avLst/>
          </a:prstGeom>
          <a:noFill/>
          <a:ln/>
        </p:spPr>
        <p:txBody>
          <a:bodyPr wrap="none" rtlCol="0" anchor="t"/>
          <a:lstStyle/>
          <a:p>
            <a:pPr indent="0" marL="0">
              <a:lnSpc>
                <a:spcPts val="2624"/>
              </a:lnSpc>
              <a:buNone/>
            </a:pPr>
            <a:endParaRPr lang="en-US" sz="1750" dirty="0"/>
          </a:p>
        </p:txBody>
      </p:sp>
      <p:pic>
        <p:nvPicPr>
          <p:cNvPr id="6" name="Image 0" descr="preencoded.png">
            <a:hlinkClick r:id="rId2" tooltip=""/>
          </p:cNvPr>
          <p:cNvPicPr>
            <a:picLocks noChangeAspect="1"/>
          </p:cNvPicPr>
          <p:nvPr/>
        </p:nvPicPr>
        <p:blipFill>
          <a:blip r:embed="rId1"/>
          <a:stretch>
            <a:fillRect/>
          </a:stretch>
        </p:blipFill>
        <p:spPr>
          <a:xfrm>
            <a:off x="2037993" y="4421029"/>
            <a:ext cx="10554414" cy="1109424"/>
          </a:xfrm>
          <a:prstGeom prst="rect">
            <a:avLst/>
          </a:prstGeom>
        </p:spPr>
      </p:pic>
      <p:pic>
        <p:nvPicPr>
          <p:cNvPr id="7" name="Image 1"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10980420" y="0"/>
            <a:ext cx="3657600" cy="8229600"/>
          </a:xfrm>
          <a:prstGeom prst="rect">
            <a:avLst/>
          </a:prstGeom>
        </p:spPr>
      </p:pic>
      <p:sp>
        <p:nvSpPr>
          <p:cNvPr id="5" name="Text 2"/>
          <p:cNvSpPr/>
          <p:nvPr/>
        </p:nvSpPr>
        <p:spPr>
          <a:xfrm>
            <a:off x="833199" y="1207175"/>
            <a:ext cx="5554980"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개발 과정의 시행착오</a:t>
            </a:r>
            <a:endParaRPr lang="en-US" sz="4374" dirty="0"/>
          </a:p>
        </p:txBody>
      </p:sp>
      <p:sp>
        <p:nvSpPr>
          <p:cNvPr id="6" name="Shape 3"/>
          <p:cNvSpPr/>
          <p:nvPr/>
        </p:nvSpPr>
        <p:spPr>
          <a:xfrm>
            <a:off x="1144310" y="2234803"/>
            <a:ext cx="44410" cy="4204454"/>
          </a:xfrm>
          <a:prstGeom prst="roundRect">
            <a:avLst>
              <a:gd name="adj" fmla="val 225151"/>
            </a:avLst>
          </a:prstGeom>
          <a:solidFill>
            <a:srgbClr val="C0C1D7"/>
          </a:solidFill>
          <a:ln/>
        </p:spPr>
      </p:sp>
      <p:sp>
        <p:nvSpPr>
          <p:cNvPr id="7" name="Shape 4"/>
          <p:cNvSpPr/>
          <p:nvPr/>
        </p:nvSpPr>
        <p:spPr>
          <a:xfrm>
            <a:off x="1416427" y="2712422"/>
            <a:ext cx="777597" cy="44410"/>
          </a:xfrm>
          <a:prstGeom prst="roundRect">
            <a:avLst>
              <a:gd name="adj" fmla="val 225151"/>
            </a:avLst>
          </a:prstGeom>
          <a:solidFill>
            <a:srgbClr val="C0C1D7"/>
          </a:solidFill>
          <a:ln/>
        </p:spPr>
      </p:sp>
      <p:sp>
        <p:nvSpPr>
          <p:cNvPr id="8" name="Shape 5"/>
          <p:cNvSpPr/>
          <p:nvPr/>
        </p:nvSpPr>
        <p:spPr>
          <a:xfrm>
            <a:off x="916484" y="2484715"/>
            <a:ext cx="499943" cy="499943"/>
          </a:xfrm>
          <a:prstGeom prst="roundRect">
            <a:avLst>
              <a:gd name="adj" fmla="val 20000"/>
            </a:avLst>
          </a:prstGeom>
          <a:solidFill>
            <a:srgbClr val="DADBF1"/>
          </a:solidFill>
          <a:ln w="7620">
            <a:solidFill>
              <a:srgbClr val="C0C1D7"/>
            </a:solidFill>
            <a:prstDash val="solid"/>
          </a:ln>
        </p:spPr>
      </p:sp>
      <p:sp>
        <p:nvSpPr>
          <p:cNvPr id="9" name="Text 6"/>
          <p:cNvSpPr/>
          <p:nvPr/>
        </p:nvSpPr>
        <p:spPr>
          <a:xfrm>
            <a:off x="1089839" y="2526387"/>
            <a:ext cx="153114"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1</a:t>
            </a:r>
            <a:endParaRPr lang="en-US" sz="2624" dirty="0"/>
          </a:p>
        </p:txBody>
      </p:sp>
      <p:sp>
        <p:nvSpPr>
          <p:cNvPr id="10" name="Text 7"/>
          <p:cNvSpPr/>
          <p:nvPr/>
        </p:nvSpPr>
        <p:spPr>
          <a:xfrm>
            <a:off x="2388513" y="2456974"/>
            <a:ext cx="2777490" cy="347186"/>
          </a:xfrm>
          <a:prstGeom prst="rect">
            <a:avLst/>
          </a:prstGeom>
          <a:noFill/>
          <a:ln/>
        </p:spPr>
        <p:txBody>
          <a:bodyPr wrap="none" rtlCol="0" anchor="t"/>
          <a:lstStyle/>
          <a:p>
            <a:pPr algn="l"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호출 및 복잡성 오류 회피</a:t>
            </a:r>
            <a:endParaRPr lang="en-US" sz="2187" dirty="0"/>
          </a:p>
        </p:txBody>
      </p:sp>
      <p:sp>
        <p:nvSpPr>
          <p:cNvPr id="11" name="Text 8"/>
          <p:cNvSpPr/>
          <p:nvPr/>
        </p:nvSpPr>
        <p:spPr>
          <a:xfrm>
            <a:off x="2388513" y="2937391"/>
            <a:ext cx="7751088" cy="666512"/>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처음에는 이미 구현되어 있는 예제 LLM android 앱을 적극적으로 참조하려고 하였습니다</a:t>
            </a:r>
            <a:endParaRPr lang="en-US" sz="1750" dirty="0"/>
          </a:p>
        </p:txBody>
      </p:sp>
      <p:sp>
        <p:nvSpPr>
          <p:cNvPr id="12" name="Text 9"/>
          <p:cNvSpPr/>
          <p:nvPr/>
        </p:nvSpPr>
        <p:spPr>
          <a:xfrm>
            <a:off x="2388513" y="3737134"/>
            <a:ext cx="7751088" cy="666512"/>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그러나 알 수 없는 종속성 및 라이브러리 호출 오류, 모델의 지나친 복잡성 등의 문제로 인해 앱을 처음부터 다시 설계는 방향으로 진행했습니다.</a:t>
            </a:r>
            <a:endParaRPr lang="en-US" sz="1750" dirty="0"/>
          </a:p>
        </p:txBody>
      </p:sp>
      <p:sp>
        <p:nvSpPr>
          <p:cNvPr id="13" name="Shape 10"/>
          <p:cNvSpPr/>
          <p:nvPr/>
        </p:nvSpPr>
        <p:spPr>
          <a:xfrm>
            <a:off x="1416427" y="5325606"/>
            <a:ext cx="777597" cy="44410"/>
          </a:xfrm>
          <a:prstGeom prst="roundRect">
            <a:avLst>
              <a:gd name="adj" fmla="val 225151"/>
            </a:avLst>
          </a:prstGeom>
          <a:solidFill>
            <a:srgbClr val="C0C1D7"/>
          </a:solidFill>
          <a:ln/>
        </p:spPr>
      </p:sp>
      <p:sp>
        <p:nvSpPr>
          <p:cNvPr id="14" name="Shape 11"/>
          <p:cNvSpPr/>
          <p:nvPr/>
        </p:nvSpPr>
        <p:spPr>
          <a:xfrm>
            <a:off x="916484" y="5097899"/>
            <a:ext cx="499943" cy="499943"/>
          </a:xfrm>
          <a:prstGeom prst="roundRect">
            <a:avLst>
              <a:gd name="adj" fmla="val 20000"/>
            </a:avLst>
          </a:prstGeom>
          <a:solidFill>
            <a:srgbClr val="DADBF1"/>
          </a:solidFill>
          <a:ln w="7620">
            <a:solidFill>
              <a:srgbClr val="C0C1D7"/>
            </a:solidFill>
            <a:prstDash val="solid"/>
          </a:ln>
        </p:spPr>
      </p:sp>
      <p:sp>
        <p:nvSpPr>
          <p:cNvPr id="15" name="Text 12"/>
          <p:cNvSpPr/>
          <p:nvPr/>
        </p:nvSpPr>
        <p:spPr>
          <a:xfrm>
            <a:off x="1066383" y="5139571"/>
            <a:ext cx="200025"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2</a:t>
            </a:r>
            <a:endParaRPr lang="en-US" sz="2624" dirty="0"/>
          </a:p>
        </p:txBody>
      </p:sp>
      <p:sp>
        <p:nvSpPr>
          <p:cNvPr id="16" name="Text 13"/>
          <p:cNvSpPr/>
          <p:nvPr/>
        </p:nvSpPr>
        <p:spPr>
          <a:xfrm>
            <a:off x="2388513" y="5070158"/>
            <a:ext cx="2886432" cy="347186"/>
          </a:xfrm>
          <a:prstGeom prst="rect">
            <a:avLst/>
          </a:prstGeom>
          <a:noFill/>
          <a:ln/>
        </p:spPr>
        <p:txBody>
          <a:bodyPr wrap="none" rtlCol="0" anchor="t"/>
          <a:lstStyle/>
          <a:p>
            <a:pPr algn="l"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모델의 크기와 성능 최적화</a:t>
            </a:r>
            <a:endParaRPr lang="en-US" sz="2187" dirty="0"/>
          </a:p>
        </p:txBody>
      </p:sp>
      <p:sp>
        <p:nvSpPr>
          <p:cNvPr id="17" name="Text 14"/>
          <p:cNvSpPr/>
          <p:nvPr/>
        </p:nvSpPr>
        <p:spPr>
          <a:xfrm>
            <a:off x="2388513" y="5550575"/>
            <a:ext cx="7751088" cy="666512"/>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대형 언어 모델은 많은 자원을 소비합니다. 이를 모바일 디바이스에서 실행 가능하도록 최적화하는 것이 큰 도전 과제였습니다.</a:t>
            </a:r>
            <a:endParaRPr lang="en-US" sz="1750" dirty="0"/>
          </a:p>
        </p:txBody>
      </p:sp>
      <p:sp>
        <p:nvSpPr>
          <p:cNvPr id="18" name="Text 15"/>
          <p:cNvSpPr/>
          <p:nvPr/>
        </p:nvSpPr>
        <p:spPr>
          <a:xfrm>
            <a:off x="833199" y="6689169"/>
            <a:ext cx="9306401" cy="333256"/>
          </a:xfrm>
          <a:prstGeom prst="rect">
            <a:avLst/>
          </a:prstGeom>
          <a:noFill/>
          <a:ln/>
        </p:spPr>
        <p:txBody>
          <a:bodyPr wrap="none" rtlCol="0" anchor="t"/>
          <a:lstStyle/>
          <a:p>
            <a:pPr indent="0" marL="0">
              <a:lnSpc>
                <a:spcPts val="2624"/>
              </a:lnSpc>
              <a:buNone/>
            </a:pPr>
            <a:r>
              <a:rPr lang="en-US" sz="1750" b="1" spc="-35" kern="0" dirty="0">
                <a:solidFill>
                  <a:srgbClr val="272525"/>
                </a:solidFill>
                <a:latin typeface="Inter" pitchFamily="34" charset="0"/>
                <a:ea typeface="Inter" pitchFamily="34" charset="-122"/>
                <a:cs typeface="Inter" pitchFamily="34" charset="-120"/>
              </a:rPr>
              <a:t>모델의 크기와 성능 최적화</a:t>
            </a:r>
            <a:endParaRPr lang="en-US" sz="1750" dirty="0"/>
          </a:p>
        </p:txBody>
      </p:sp>
      <p:pic>
        <p:nvPicPr>
          <p:cNvPr id="19"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10980420" y="0"/>
            <a:ext cx="3657600" cy="8229600"/>
          </a:xfrm>
          <a:prstGeom prst="rect">
            <a:avLst/>
          </a:prstGeom>
        </p:spPr>
      </p:pic>
      <p:sp>
        <p:nvSpPr>
          <p:cNvPr id="5" name="Text 2"/>
          <p:cNvSpPr/>
          <p:nvPr/>
        </p:nvSpPr>
        <p:spPr>
          <a:xfrm>
            <a:off x="833199" y="773906"/>
            <a:ext cx="5554980"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개발 과정의 시행착오</a:t>
            </a:r>
            <a:endParaRPr lang="en-US" sz="4374" dirty="0"/>
          </a:p>
        </p:txBody>
      </p:sp>
      <p:sp>
        <p:nvSpPr>
          <p:cNvPr id="6" name="Shape 3"/>
          <p:cNvSpPr/>
          <p:nvPr/>
        </p:nvSpPr>
        <p:spPr>
          <a:xfrm>
            <a:off x="1144310" y="1801535"/>
            <a:ext cx="44410" cy="5070991"/>
          </a:xfrm>
          <a:prstGeom prst="roundRect">
            <a:avLst>
              <a:gd name="adj" fmla="val 225151"/>
            </a:avLst>
          </a:prstGeom>
          <a:solidFill>
            <a:srgbClr val="C0C1D7"/>
          </a:solidFill>
          <a:ln/>
        </p:spPr>
      </p:sp>
      <p:sp>
        <p:nvSpPr>
          <p:cNvPr id="7" name="Shape 4"/>
          <p:cNvSpPr/>
          <p:nvPr/>
        </p:nvSpPr>
        <p:spPr>
          <a:xfrm>
            <a:off x="1416427" y="2279154"/>
            <a:ext cx="777597" cy="44410"/>
          </a:xfrm>
          <a:prstGeom prst="roundRect">
            <a:avLst>
              <a:gd name="adj" fmla="val 225151"/>
            </a:avLst>
          </a:prstGeom>
          <a:solidFill>
            <a:srgbClr val="C0C1D7"/>
          </a:solidFill>
          <a:ln/>
        </p:spPr>
      </p:sp>
      <p:sp>
        <p:nvSpPr>
          <p:cNvPr id="8" name="Shape 5"/>
          <p:cNvSpPr/>
          <p:nvPr/>
        </p:nvSpPr>
        <p:spPr>
          <a:xfrm>
            <a:off x="916484" y="2051447"/>
            <a:ext cx="499943" cy="499943"/>
          </a:xfrm>
          <a:prstGeom prst="roundRect">
            <a:avLst>
              <a:gd name="adj" fmla="val 20000"/>
            </a:avLst>
          </a:prstGeom>
          <a:solidFill>
            <a:srgbClr val="DADBF1"/>
          </a:solidFill>
          <a:ln w="7620">
            <a:solidFill>
              <a:srgbClr val="C0C1D7"/>
            </a:solidFill>
            <a:prstDash val="solid"/>
          </a:ln>
        </p:spPr>
      </p:sp>
      <p:sp>
        <p:nvSpPr>
          <p:cNvPr id="9" name="Text 6"/>
          <p:cNvSpPr/>
          <p:nvPr/>
        </p:nvSpPr>
        <p:spPr>
          <a:xfrm>
            <a:off x="1089839" y="2093119"/>
            <a:ext cx="153114"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1</a:t>
            </a:r>
            <a:endParaRPr lang="en-US" sz="2624" dirty="0"/>
          </a:p>
        </p:txBody>
      </p:sp>
      <p:sp>
        <p:nvSpPr>
          <p:cNvPr id="10" name="Text 7"/>
          <p:cNvSpPr/>
          <p:nvPr/>
        </p:nvSpPr>
        <p:spPr>
          <a:xfrm>
            <a:off x="2388513" y="2023705"/>
            <a:ext cx="2777490" cy="347186"/>
          </a:xfrm>
          <a:prstGeom prst="rect">
            <a:avLst/>
          </a:prstGeom>
          <a:noFill/>
          <a:ln/>
        </p:spPr>
        <p:txBody>
          <a:bodyPr wrap="none" rtlCol="0" anchor="t"/>
          <a:lstStyle/>
          <a:p>
            <a:pPr algn="l"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데이터 타입 불일치 문제</a:t>
            </a:r>
            <a:endParaRPr lang="en-US" sz="2187" dirty="0"/>
          </a:p>
        </p:txBody>
      </p:sp>
      <p:sp>
        <p:nvSpPr>
          <p:cNvPr id="11" name="Text 8"/>
          <p:cNvSpPr/>
          <p:nvPr/>
        </p:nvSpPr>
        <p:spPr>
          <a:xfrm>
            <a:off x="2388513" y="2504123"/>
            <a:ext cx="7751088" cy="1666280"/>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INT32와 FLOAT32 사이의 변환 문제가 발생했습니다. 처음에는 INT32 타입의 입력 데이터를 사용하여 모델을 실행하려고 했습니다. 그러나 TensorFlow Lite 모델은 FLOAT32 타입을 요구했기 때문에 타입 불일치 오류가 발생했습니다. FLOAT32 포맷으로 재교육하고, 코드에서 데이터 타입 변환을 명확하게 처리했습니다. 그러나 알 수 없는 데이터 변환 오류가 지속되었습니다</a:t>
            </a:r>
            <a:endParaRPr lang="en-US" sz="1750" dirty="0"/>
          </a:p>
        </p:txBody>
      </p:sp>
      <p:sp>
        <p:nvSpPr>
          <p:cNvPr id="12" name="Shape 9"/>
          <p:cNvSpPr/>
          <p:nvPr/>
        </p:nvSpPr>
        <p:spPr>
          <a:xfrm>
            <a:off x="1416427" y="5092363"/>
            <a:ext cx="777597" cy="44410"/>
          </a:xfrm>
          <a:prstGeom prst="roundRect">
            <a:avLst>
              <a:gd name="adj" fmla="val 225151"/>
            </a:avLst>
          </a:prstGeom>
          <a:solidFill>
            <a:srgbClr val="C0C1D7"/>
          </a:solidFill>
          <a:ln/>
        </p:spPr>
      </p:sp>
      <p:sp>
        <p:nvSpPr>
          <p:cNvPr id="13" name="Shape 10"/>
          <p:cNvSpPr/>
          <p:nvPr/>
        </p:nvSpPr>
        <p:spPr>
          <a:xfrm>
            <a:off x="916484" y="4864656"/>
            <a:ext cx="499943" cy="499943"/>
          </a:xfrm>
          <a:prstGeom prst="roundRect">
            <a:avLst>
              <a:gd name="adj" fmla="val 20000"/>
            </a:avLst>
          </a:prstGeom>
          <a:solidFill>
            <a:srgbClr val="DADBF1"/>
          </a:solidFill>
          <a:ln w="7620">
            <a:solidFill>
              <a:srgbClr val="C0C1D7"/>
            </a:solidFill>
            <a:prstDash val="solid"/>
          </a:ln>
        </p:spPr>
      </p:sp>
      <p:sp>
        <p:nvSpPr>
          <p:cNvPr id="14" name="Text 11"/>
          <p:cNvSpPr/>
          <p:nvPr/>
        </p:nvSpPr>
        <p:spPr>
          <a:xfrm>
            <a:off x="1066383" y="4906328"/>
            <a:ext cx="200025"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2</a:t>
            </a:r>
            <a:endParaRPr lang="en-US" sz="2624" dirty="0"/>
          </a:p>
        </p:txBody>
      </p:sp>
      <p:sp>
        <p:nvSpPr>
          <p:cNvPr id="15" name="Text 12"/>
          <p:cNvSpPr/>
          <p:nvPr/>
        </p:nvSpPr>
        <p:spPr>
          <a:xfrm>
            <a:off x="2388513" y="4836914"/>
            <a:ext cx="2803446" cy="347186"/>
          </a:xfrm>
          <a:prstGeom prst="rect">
            <a:avLst/>
          </a:prstGeom>
          <a:noFill/>
          <a:ln/>
        </p:spPr>
        <p:txBody>
          <a:bodyPr wrap="none" rtlCol="0" anchor="t"/>
          <a:lstStyle/>
          <a:p>
            <a:pPr algn="l"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Gradle 설정 및 빌드 문제</a:t>
            </a:r>
            <a:endParaRPr lang="en-US" sz="2187" dirty="0"/>
          </a:p>
        </p:txBody>
      </p:sp>
      <p:sp>
        <p:nvSpPr>
          <p:cNvPr id="16" name="Text 13"/>
          <p:cNvSpPr/>
          <p:nvPr/>
        </p:nvSpPr>
        <p:spPr>
          <a:xfrm>
            <a:off x="2388513" y="5317331"/>
            <a:ext cx="7751088" cy="1333024"/>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처음에는 기본 Gradle 설정을 사용하여 프로젝트를 빌드하려고 했습니다. 그러나 필요한 종속성이 제대로 설정되지 않아 빌드 오류가 발생했습니다. 프로젝트 수준과 앱 수준의 build.gradle.kts 파일을 수정하여 필요한 종속성을 명확하게 정의했습니다. 반복된 디버깅 작업에서 많은 시간과 리소스를 소모했습니다.</a:t>
            </a:r>
            <a:endParaRPr lang="en-US" sz="1750" dirty="0"/>
          </a:p>
        </p:txBody>
      </p:sp>
      <p:sp>
        <p:nvSpPr>
          <p:cNvPr id="17" name="Text 14"/>
          <p:cNvSpPr/>
          <p:nvPr/>
        </p:nvSpPr>
        <p:spPr>
          <a:xfrm>
            <a:off x="833199" y="7122438"/>
            <a:ext cx="9306401" cy="333256"/>
          </a:xfrm>
          <a:prstGeom prst="rect">
            <a:avLst/>
          </a:prstGeom>
          <a:noFill/>
          <a:ln/>
        </p:spPr>
        <p:txBody>
          <a:bodyPr wrap="none" rtlCol="0" anchor="t"/>
          <a:lstStyle/>
          <a:p>
            <a:pPr indent="0" marL="0">
              <a:lnSpc>
                <a:spcPts val="2624"/>
              </a:lnSpc>
              <a:buNone/>
            </a:pPr>
            <a:r>
              <a:rPr lang="en-US" sz="1750" b="1" spc="-35" kern="0" dirty="0">
                <a:solidFill>
                  <a:srgbClr val="272525"/>
                </a:solidFill>
                <a:latin typeface="Inter" pitchFamily="34" charset="0"/>
                <a:ea typeface="Inter" pitchFamily="34" charset="-122"/>
                <a:cs typeface="Inter" pitchFamily="34" charset="-120"/>
              </a:rPr>
              <a:t>모델의 크기와 성능 최적화</a:t>
            </a:r>
            <a:endParaRPr lang="en-US" sz="1750" dirty="0"/>
          </a:p>
        </p:txBody>
      </p:sp>
      <p:pic>
        <p:nvPicPr>
          <p:cNvPr id="18"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10980420" y="0"/>
            <a:ext cx="3657600" cy="8229600"/>
          </a:xfrm>
          <a:prstGeom prst="rect">
            <a:avLst/>
          </a:prstGeom>
        </p:spPr>
      </p:pic>
      <p:sp>
        <p:nvSpPr>
          <p:cNvPr id="5" name="Text 2"/>
          <p:cNvSpPr/>
          <p:nvPr/>
        </p:nvSpPr>
        <p:spPr>
          <a:xfrm>
            <a:off x="833199" y="773906"/>
            <a:ext cx="5554980"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개발 과정의 시행착오</a:t>
            </a:r>
            <a:endParaRPr lang="en-US" sz="4374" dirty="0"/>
          </a:p>
        </p:txBody>
      </p:sp>
      <p:sp>
        <p:nvSpPr>
          <p:cNvPr id="6" name="Shape 3"/>
          <p:cNvSpPr/>
          <p:nvPr/>
        </p:nvSpPr>
        <p:spPr>
          <a:xfrm>
            <a:off x="1144310" y="1801535"/>
            <a:ext cx="44410" cy="5070991"/>
          </a:xfrm>
          <a:prstGeom prst="roundRect">
            <a:avLst>
              <a:gd name="adj" fmla="val 225151"/>
            </a:avLst>
          </a:prstGeom>
          <a:solidFill>
            <a:srgbClr val="C0C1D7"/>
          </a:solidFill>
          <a:ln/>
        </p:spPr>
      </p:sp>
      <p:sp>
        <p:nvSpPr>
          <p:cNvPr id="7" name="Shape 4"/>
          <p:cNvSpPr/>
          <p:nvPr/>
        </p:nvSpPr>
        <p:spPr>
          <a:xfrm>
            <a:off x="1416427" y="2279154"/>
            <a:ext cx="777597" cy="44410"/>
          </a:xfrm>
          <a:prstGeom prst="roundRect">
            <a:avLst>
              <a:gd name="adj" fmla="val 225151"/>
            </a:avLst>
          </a:prstGeom>
          <a:solidFill>
            <a:srgbClr val="C0C1D7"/>
          </a:solidFill>
          <a:ln/>
        </p:spPr>
      </p:sp>
      <p:sp>
        <p:nvSpPr>
          <p:cNvPr id="8" name="Shape 5"/>
          <p:cNvSpPr/>
          <p:nvPr/>
        </p:nvSpPr>
        <p:spPr>
          <a:xfrm>
            <a:off x="916484" y="2051447"/>
            <a:ext cx="499943" cy="499943"/>
          </a:xfrm>
          <a:prstGeom prst="roundRect">
            <a:avLst>
              <a:gd name="adj" fmla="val 20000"/>
            </a:avLst>
          </a:prstGeom>
          <a:solidFill>
            <a:srgbClr val="DADBF1"/>
          </a:solidFill>
          <a:ln w="7620">
            <a:solidFill>
              <a:srgbClr val="C0C1D7"/>
            </a:solidFill>
            <a:prstDash val="solid"/>
          </a:ln>
        </p:spPr>
      </p:sp>
      <p:sp>
        <p:nvSpPr>
          <p:cNvPr id="9" name="Text 6"/>
          <p:cNvSpPr/>
          <p:nvPr/>
        </p:nvSpPr>
        <p:spPr>
          <a:xfrm>
            <a:off x="1089839" y="2093119"/>
            <a:ext cx="153114"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1</a:t>
            </a:r>
            <a:endParaRPr lang="en-US" sz="2624" dirty="0"/>
          </a:p>
        </p:txBody>
      </p:sp>
      <p:sp>
        <p:nvSpPr>
          <p:cNvPr id="10" name="Text 7"/>
          <p:cNvSpPr/>
          <p:nvPr/>
        </p:nvSpPr>
        <p:spPr>
          <a:xfrm>
            <a:off x="2388513" y="2023705"/>
            <a:ext cx="2777490" cy="347186"/>
          </a:xfrm>
          <a:prstGeom prst="rect">
            <a:avLst/>
          </a:prstGeom>
          <a:noFill/>
          <a:ln/>
        </p:spPr>
        <p:txBody>
          <a:bodyPr wrap="none" rtlCol="0" anchor="t"/>
          <a:lstStyle/>
          <a:p>
            <a:pPr algn="l"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Send 버튼 작동 문제</a:t>
            </a:r>
            <a:endParaRPr lang="en-US" sz="2187" dirty="0"/>
          </a:p>
        </p:txBody>
      </p:sp>
      <p:sp>
        <p:nvSpPr>
          <p:cNvPr id="11" name="Text 8"/>
          <p:cNvSpPr/>
          <p:nvPr/>
        </p:nvSpPr>
        <p:spPr>
          <a:xfrm>
            <a:off x="2388513" y="2504123"/>
            <a:ext cx="7751088" cy="1333024"/>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처음에는 Send 버튼이 정상적으로 작동했으나, 이후에 작동하지 않는 문제가 발생했습니다. 버튼 클릭 이벤트를 확인하고 디버깅을 통해 문제를 해결하려고 했습니다. 그러나 원인을 파악하기 어려웠습니다. 코드와 로그를 면밀히 분석한 결과, 데이터 타입 변환과 관련된 문제가 버튼 작동에 영향을 미친 것을 확인했습니다.</a:t>
            </a:r>
            <a:endParaRPr lang="en-US" sz="1750" dirty="0"/>
          </a:p>
        </p:txBody>
      </p:sp>
      <p:sp>
        <p:nvSpPr>
          <p:cNvPr id="12" name="Shape 9"/>
          <p:cNvSpPr/>
          <p:nvPr/>
        </p:nvSpPr>
        <p:spPr>
          <a:xfrm>
            <a:off x="1416427" y="4759107"/>
            <a:ext cx="777597" cy="44410"/>
          </a:xfrm>
          <a:prstGeom prst="roundRect">
            <a:avLst>
              <a:gd name="adj" fmla="val 225151"/>
            </a:avLst>
          </a:prstGeom>
          <a:solidFill>
            <a:srgbClr val="C0C1D7"/>
          </a:solidFill>
          <a:ln/>
        </p:spPr>
      </p:sp>
      <p:sp>
        <p:nvSpPr>
          <p:cNvPr id="13" name="Shape 10"/>
          <p:cNvSpPr/>
          <p:nvPr/>
        </p:nvSpPr>
        <p:spPr>
          <a:xfrm>
            <a:off x="916484" y="4531400"/>
            <a:ext cx="499943" cy="499943"/>
          </a:xfrm>
          <a:prstGeom prst="roundRect">
            <a:avLst>
              <a:gd name="adj" fmla="val 20000"/>
            </a:avLst>
          </a:prstGeom>
          <a:solidFill>
            <a:srgbClr val="DADBF1"/>
          </a:solidFill>
          <a:ln w="7620">
            <a:solidFill>
              <a:srgbClr val="C0C1D7"/>
            </a:solidFill>
            <a:prstDash val="solid"/>
          </a:ln>
        </p:spPr>
      </p:sp>
      <p:sp>
        <p:nvSpPr>
          <p:cNvPr id="14" name="Text 11"/>
          <p:cNvSpPr/>
          <p:nvPr/>
        </p:nvSpPr>
        <p:spPr>
          <a:xfrm>
            <a:off x="1066383" y="4573072"/>
            <a:ext cx="200025"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2</a:t>
            </a:r>
            <a:endParaRPr lang="en-US" sz="2624" dirty="0"/>
          </a:p>
        </p:txBody>
      </p:sp>
      <p:sp>
        <p:nvSpPr>
          <p:cNvPr id="15" name="Text 12"/>
          <p:cNvSpPr/>
          <p:nvPr/>
        </p:nvSpPr>
        <p:spPr>
          <a:xfrm>
            <a:off x="2388513" y="4503658"/>
            <a:ext cx="2777490" cy="347186"/>
          </a:xfrm>
          <a:prstGeom prst="rect">
            <a:avLst/>
          </a:prstGeom>
          <a:noFill/>
          <a:ln/>
        </p:spPr>
        <p:txBody>
          <a:bodyPr wrap="none" rtlCol="0" anchor="t"/>
          <a:lstStyle/>
          <a:p>
            <a:pPr algn="l"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모델 호환성 문제</a:t>
            </a:r>
            <a:endParaRPr lang="en-US" sz="2187" dirty="0"/>
          </a:p>
        </p:txBody>
      </p:sp>
      <p:sp>
        <p:nvSpPr>
          <p:cNvPr id="16" name="Text 13"/>
          <p:cNvSpPr/>
          <p:nvPr/>
        </p:nvSpPr>
        <p:spPr>
          <a:xfrm>
            <a:off x="2388513" y="4984075"/>
            <a:ext cx="7751088" cy="1666280"/>
          </a:xfrm>
          <a:prstGeom prst="rect">
            <a:avLst/>
          </a:prstGeom>
          <a:noFill/>
          <a:ln/>
        </p:spPr>
        <p:txBody>
          <a:bodyPr wrap="square" rtlCol="0" anchor="t"/>
          <a:lstStyle/>
          <a:p>
            <a:pPr algn="l" indent="0" marL="0">
              <a:lnSpc>
                <a:spcPts val="2624"/>
              </a:lnSpc>
              <a:buNone/>
            </a:pPr>
            <a:r>
              <a:rPr lang="en-US" sz="1750" spc="-35" kern="0" dirty="0">
                <a:solidFill>
                  <a:srgbClr val="272525"/>
                </a:solidFill>
                <a:latin typeface="Inter" pitchFamily="34" charset="0"/>
                <a:ea typeface="Inter" pitchFamily="34" charset="-122"/>
                <a:cs typeface="Inter" pitchFamily="34" charset="-120"/>
              </a:rPr>
              <a:t>BERT 모델을 TensorFlow Lite 형식으로 변환하는 과정에서 호환성 문제가 발생했습니다. TensorFlow Lite Converter를 사용하여 모델을 변환하는 과정에서 옵션을 조정하고, 모델 최적화 기술을 적용하여 호환성 문제를 해결했지만 오류가 지속되었습니다. Phi2B_cpu, Falcon1B_cpu등의 모델을 .bin형태로 사용하려고 하였으나 지속되는 오류로 인해 실패하였습니다. </a:t>
            </a:r>
            <a:endParaRPr lang="en-US" sz="1750" dirty="0"/>
          </a:p>
        </p:txBody>
      </p:sp>
      <p:sp>
        <p:nvSpPr>
          <p:cNvPr id="17" name="Text 14"/>
          <p:cNvSpPr/>
          <p:nvPr/>
        </p:nvSpPr>
        <p:spPr>
          <a:xfrm>
            <a:off x="833199" y="7122438"/>
            <a:ext cx="9306401" cy="333256"/>
          </a:xfrm>
          <a:prstGeom prst="rect">
            <a:avLst/>
          </a:prstGeom>
          <a:noFill/>
          <a:ln/>
        </p:spPr>
        <p:txBody>
          <a:bodyPr wrap="none" rtlCol="0" anchor="t"/>
          <a:lstStyle/>
          <a:p>
            <a:pPr indent="0" marL="0">
              <a:lnSpc>
                <a:spcPts val="2624"/>
              </a:lnSpc>
              <a:buNone/>
            </a:pPr>
            <a:r>
              <a:rPr lang="en-US" sz="1750" b="1" spc="-35" kern="0" dirty="0">
                <a:solidFill>
                  <a:srgbClr val="272525"/>
                </a:solidFill>
                <a:latin typeface="Inter" pitchFamily="34" charset="0"/>
                <a:ea typeface="Inter" pitchFamily="34" charset="-122"/>
                <a:cs typeface="Inter" pitchFamily="34" charset="-120"/>
              </a:rPr>
              <a:t>모델의 크기와 성능 최적화</a:t>
            </a:r>
            <a:endParaRPr lang="en-US" sz="1750" dirty="0"/>
          </a:p>
        </p:txBody>
      </p:sp>
      <p:pic>
        <p:nvPicPr>
          <p:cNvPr id="18"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2406610"/>
            <a:ext cx="5554980"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벡터 임베딩 및 RAG시연</a:t>
            </a:r>
            <a:endParaRPr lang="en-US" sz="4374" dirty="0"/>
          </a:p>
        </p:txBody>
      </p:sp>
      <p:sp>
        <p:nvSpPr>
          <p:cNvPr id="5" name="Shape 3"/>
          <p:cNvSpPr/>
          <p:nvPr/>
        </p:nvSpPr>
        <p:spPr>
          <a:xfrm>
            <a:off x="2037993" y="3545324"/>
            <a:ext cx="10554414" cy="2277666"/>
          </a:xfrm>
          <a:prstGeom prst="roundRect">
            <a:avLst>
              <a:gd name="adj" fmla="val 4390"/>
            </a:avLst>
          </a:prstGeom>
          <a:solidFill>
            <a:srgbClr val="DADBF1"/>
          </a:solidFill>
          <a:ln w="7620">
            <a:solidFill>
              <a:srgbClr val="C0C1D7"/>
            </a:solidFill>
            <a:prstDash val="solid"/>
          </a:ln>
        </p:spPr>
      </p:sp>
      <p:pic>
        <p:nvPicPr>
          <p:cNvPr id="6" name="Image 0" descr="preencoded.png">    </p:cNvPr>
          <p:cNvPicPr>
            <a:picLocks noChangeAspect="1"/>
          </p:cNvPicPr>
          <p:nvPr/>
        </p:nvPicPr>
        <p:blipFill>
          <a:blip r:embed="rId1"/>
          <a:stretch>
            <a:fillRect/>
          </a:stretch>
        </p:blipFill>
        <p:spPr>
          <a:xfrm>
            <a:off x="2267783" y="3775115"/>
            <a:ext cx="10094833" cy="458748"/>
          </a:xfrm>
          <a:prstGeom prst="rect">
            <a:avLst/>
          </a:prstGeom>
        </p:spPr>
      </p:pic>
      <p:pic>
        <p:nvPicPr>
          <p:cNvPr id="7" name="Image 1" descr="preencoded.png">
            <a:hlinkClick r:id="rId3" tooltip=""/>
          </p:cNvPr>
          <p:cNvPicPr>
            <a:picLocks noChangeAspect="1"/>
          </p:cNvPicPr>
          <p:nvPr/>
        </p:nvPicPr>
        <p:blipFill>
          <a:blip r:embed="rId2"/>
          <a:stretch>
            <a:fillRect/>
          </a:stretch>
        </p:blipFill>
        <p:spPr>
          <a:xfrm>
            <a:off x="2267783" y="4483775"/>
            <a:ext cx="10094833" cy="1109424"/>
          </a:xfrm>
          <a:prstGeom prst="rect">
            <a:avLst/>
          </a:prstGeom>
        </p:spPr>
      </p:pic>
      <p:pic>
        <p:nvPicPr>
          <p:cNvPr id="8" name="Image 2"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537573"/>
            <a:ext cx="5661898" cy="694373"/>
          </a:xfrm>
          <a:prstGeom prst="rect">
            <a:avLst/>
          </a:prstGeom>
          <a:noFill/>
          <a:ln/>
        </p:spPr>
        <p:txBody>
          <a:bodyPr wrap="none" rtlCol="0" anchor="t"/>
          <a:lstStyle/>
          <a:p>
            <a:pPr indent="0" marL="0">
              <a:lnSpc>
                <a:spcPts val="5468"/>
              </a:lnSpc>
              <a:buNone/>
            </a:pPr>
            <a:r>
              <a:rPr lang="en-US" sz="4374" b="1" spc="-131" kern="0" dirty="0">
                <a:solidFill>
                  <a:srgbClr val="000000"/>
                </a:solidFill>
                <a:latin typeface="Inter" pitchFamily="34" charset="0"/>
                <a:ea typeface="Inter" pitchFamily="34" charset="-122"/>
                <a:cs typeface="Inter" pitchFamily="34" charset="-120"/>
              </a:rPr>
              <a:t>시행착오로 인한 개선사항</a:t>
            </a:r>
            <a:endParaRPr lang="en-US" sz="4374" dirty="0"/>
          </a:p>
        </p:txBody>
      </p:sp>
      <p:sp>
        <p:nvSpPr>
          <p:cNvPr id="5" name="Shape 3"/>
          <p:cNvSpPr/>
          <p:nvPr/>
        </p:nvSpPr>
        <p:spPr>
          <a:xfrm>
            <a:off x="2037993" y="2926199"/>
            <a:ext cx="499943" cy="499943"/>
          </a:xfrm>
          <a:prstGeom prst="roundRect">
            <a:avLst>
              <a:gd name="adj" fmla="val 20000"/>
            </a:avLst>
          </a:prstGeom>
          <a:solidFill>
            <a:srgbClr val="DADBF1"/>
          </a:solidFill>
          <a:ln w="7620">
            <a:solidFill>
              <a:srgbClr val="C0C1D7"/>
            </a:solidFill>
            <a:prstDash val="solid"/>
          </a:ln>
        </p:spPr>
      </p:sp>
      <p:sp>
        <p:nvSpPr>
          <p:cNvPr id="6" name="Text 4"/>
          <p:cNvSpPr/>
          <p:nvPr/>
        </p:nvSpPr>
        <p:spPr>
          <a:xfrm>
            <a:off x="2211348" y="2967871"/>
            <a:ext cx="153114"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1</a:t>
            </a:r>
            <a:endParaRPr lang="en-US" sz="2624" dirty="0"/>
          </a:p>
        </p:txBody>
      </p:sp>
      <p:sp>
        <p:nvSpPr>
          <p:cNvPr id="7" name="Text 5"/>
          <p:cNvSpPr/>
          <p:nvPr/>
        </p:nvSpPr>
        <p:spPr>
          <a:xfrm>
            <a:off x="2760107" y="2926199"/>
            <a:ext cx="2777490" cy="347186"/>
          </a:xfrm>
          <a:prstGeom prst="rect">
            <a:avLst/>
          </a:prstGeom>
          <a:noFill/>
          <a:ln/>
        </p:spPr>
        <p:txBody>
          <a:bodyPr wrap="none" rtlCol="0" anchor="t"/>
          <a:lstStyle/>
          <a:p>
            <a:pPr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모델 경량화</a:t>
            </a:r>
            <a:endParaRPr lang="en-US" sz="2187" dirty="0"/>
          </a:p>
        </p:txBody>
      </p:sp>
      <p:sp>
        <p:nvSpPr>
          <p:cNvPr id="8" name="Text 6"/>
          <p:cNvSpPr/>
          <p:nvPr/>
        </p:nvSpPr>
        <p:spPr>
          <a:xfrm>
            <a:off x="2760107" y="3406616"/>
            <a:ext cx="4444008" cy="999768"/>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새롭게 출시되는 모델의 성능과 용량을 지속적으로 모니터링하고, 필요시 추가적인 최적화 작업을 수행합니다.</a:t>
            </a:r>
            <a:endParaRPr lang="en-US" sz="1750" dirty="0"/>
          </a:p>
        </p:txBody>
      </p:sp>
      <p:sp>
        <p:nvSpPr>
          <p:cNvPr id="9" name="Shape 7"/>
          <p:cNvSpPr/>
          <p:nvPr/>
        </p:nvSpPr>
        <p:spPr>
          <a:xfrm>
            <a:off x="7426285" y="2926199"/>
            <a:ext cx="499943" cy="499943"/>
          </a:xfrm>
          <a:prstGeom prst="roundRect">
            <a:avLst>
              <a:gd name="adj" fmla="val 20000"/>
            </a:avLst>
          </a:prstGeom>
          <a:solidFill>
            <a:srgbClr val="DADBF1"/>
          </a:solidFill>
          <a:ln w="7620">
            <a:solidFill>
              <a:srgbClr val="C0C1D7"/>
            </a:solidFill>
            <a:prstDash val="solid"/>
          </a:ln>
        </p:spPr>
      </p:sp>
      <p:sp>
        <p:nvSpPr>
          <p:cNvPr id="10" name="Text 8"/>
          <p:cNvSpPr/>
          <p:nvPr/>
        </p:nvSpPr>
        <p:spPr>
          <a:xfrm>
            <a:off x="7576185" y="2967871"/>
            <a:ext cx="200025"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2</a:t>
            </a:r>
            <a:endParaRPr lang="en-US" sz="2624" dirty="0"/>
          </a:p>
        </p:txBody>
      </p:sp>
      <p:sp>
        <p:nvSpPr>
          <p:cNvPr id="11" name="Text 9"/>
          <p:cNvSpPr/>
          <p:nvPr/>
        </p:nvSpPr>
        <p:spPr>
          <a:xfrm>
            <a:off x="8148399" y="2926199"/>
            <a:ext cx="2777490" cy="347186"/>
          </a:xfrm>
          <a:prstGeom prst="rect">
            <a:avLst/>
          </a:prstGeom>
          <a:noFill/>
          <a:ln/>
        </p:spPr>
        <p:txBody>
          <a:bodyPr wrap="none" rtlCol="0" anchor="t"/>
          <a:lstStyle/>
          <a:p>
            <a:pPr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데이터 타입 불일치 문제</a:t>
            </a:r>
            <a:endParaRPr lang="en-US" sz="2187" dirty="0"/>
          </a:p>
        </p:txBody>
      </p:sp>
      <p:sp>
        <p:nvSpPr>
          <p:cNvPr id="12" name="Text 10"/>
          <p:cNvSpPr/>
          <p:nvPr/>
        </p:nvSpPr>
        <p:spPr>
          <a:xfrm>
            <a:off x="8148399" y="3406616"/>
            <a:ext cx="4444008" cy="999768"/>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설계 이전 단계부터 데이터타입 변환 과정을 미리 파악하고 목적에 맞는 전처리 과정과 SLM제작이 필요합니다.</a:t>
            </a:r>
            <a:endParaRPr lang="en-US" sz="1750" dirty="0"/>
          </a:p>
        </p:txBody>
      </p:sp>
      <p:sp>
        <p:nvSpPr>
          <p:cNvPr id="13" name="Shape 11"/>
          <p:cNvSpPr/>
          <p:nvPr/>
        </p:nvSpPr>
        <p:spPr>
          <a:xfrm>
            <a:off x="2037993" y="4878467"/>
            <a:ext cx="499943" cy="499943"/>
          </a:xfrm>
          <a:prstGeom prst="roundRect">
            <a:avLst>
              <a:gd name="adj" fmla="val 20000"/>
            </a:avLst>
          </a:prstGeom>
          <a:solidFill>
            <a:srgbClr val="DADBF1"/>
          </a:solidFill>
          <a:ln w="7620">
            <a:solidFill>
              <a:srgbClr val="C0C1D7"/>
            </a:solidFill>
            <a:prstDash val="solid"/>
          </a:ln>
        </p:spPr>
      </p:sp>
      <p:sp>
        <p:nvSpPr>
          <p:cNvPr id="14" name="Text 12"/>
          <p:cNvSpPr/>
          <p:nvPr/>
        </p:nvSpPr>
        <p:spPr>
          <a:xfrm>
            <a:off x="2183011" y="4920139"/>
            <a:ext cx="209788"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3</a:t>
            </a:r>
            <a:endParaRPr lang="en-US" sz="2624" dirty="0"/>
          </a:p>
        </p:txBody>
      </p:sp>
      <p:sp>
        <p:nvSpPr>
          <p:cNvPr id="15" name="Text 13"/>
          <p:cNvSpPr/>
          <p:nvPr/>
        </p:nvSpPr>
        <p:spPr>
          <a:xfrm>
            <a:off x="2760107" y="4878467"/>
            <a:ext cx="2777490" cy="347186"/>
          </a:xfrm>
          <a:prstGeom prst="rect">
            <a:avLst/>
          </a:prstGeom>
          <a:noFill/>
          <a:ln/>
        </p:spPr>
        <p:txBody>
          <a:bodyPr wrap="none" rtlCol="0" anchor="t"/>
          <a:lstStyle/>
          <a:p>
            <a:pPr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모델 테스트 강화</a:t>
            </a:r>
            <a:endParaRPr lang="en-US" sz="2187" dirty="0"/>
          </a:p>
        </p:txBody>
      </p:sp>
      <p:sp>
        <p:nvSpPr>
          <p:cNvPr id="16" name="Text 14"/>
          <p:cNvSpPr/>
          <p:nvPr/>
        </p:nvSpPr>
        <p:spPr>
          <a:xfrm>
            <a:off x="2760107" y="5358884"/>
            <a:ext cx="4444008" cy="1333024"/>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개발 기간과 개발에 필요한 자원을 적절히 세팅해야합니다. 언제 개발이 완료될지 알 수 없으므로 지속적인 모델 테스트 및 지속적인 정보 업데이트를 받아야 합니다. </a:t>
            </a:r>
            <a:endParaRPr lang="en-US" sz="1750" dirty="0"/>
          </a:p>
        </p:txBody>
      </p:sp>
      <p:sp>
        <p:nvSpPr>
          <p:cNvPr id="17" name="Shape 15"/>
          <p:cNvSpPr/>
          <p:nvPr/>
        </p:nvSpPr>
        <p:spPr>
          <a:xfrm>
            <a:off x="7426285" y="4878467"/>
            <a:ext cx="499943" cy="499943"/>
          </a:xfrm>
          <a:prstGeom prst="roundRect">
            <a:avLst>
              <a:gd name="adj" fmla="val 20000"/>
            </a:avLst>
          </a:prstGeom>
          <a:solidFill>
            <a:srgbClr val="DADBF1"/>
          </a:solidFill>
          <a:ln w="7620">
            <a:solidFill>
              <a:srgbClr val="C0C1D7"/>
            </a:solidFill>
            <a:prstDash val="solid"/>
          </a:ln>
        </p:spPr>
      </p:sp>
      <p:sp>
        <p:nvSpPr>
          <p:cNvPr id="18" name="Text 16"/>
          <p:cNvSpPr/>
          <p:nvPr/>
        </p:nvSpPr>
        <p:spPr>
          <a:xfrm>
            <a:off x="7568208" y="4920139"/>
            <a:ext cx="215979" cy="416481"/>
          </a:xfrm>
          <a:prstGeom prst="rect">
            <a:avLst/>
          </a:prstGeom>
          <a:noFill/>
          <a:ln/>
        </p:spPr>
        <p:txBody>
          <a:bodyPr wrap="none" rtlCol="0" anchor="t"/>
          <a:lstStyle/>
          <a:p>
            <a:pPr algn="ctr" indent="0" marL="0">
              <a:lnSpc>
                <a:spcPts val="3281"/>
              </a:lnSpc>
              <a:buNone/>
            </a:pPr>
            <a:r>
              <a:rPr lang="en-US" sz="2624" b="1" spc="-79" kern="0" dirty="0">
                <a:solidFill>
                  <a:srgbClr val="272525"/>
                </a:solidFill>
                <a:latin typeface="Inter" pitchFamily="34" charset="0"/>
                <a:ea typeface="Inter" pitchFamily="34" charset="-122"/>
                <a:cs typeface="Inter" pitchFamily="34" charset="-120"/>
              </a:rPr>
              <a:t>4</a:t>
            </a:r>
            <a:endParaRPr lang="en-US" sz="2624" dirty="0"/>
          </a:p>
        </p:txBody>
      </p:sp>
      <p:sp>
        <p:nvSpPr>
          <p:cNvPr id="19" name="Text 17"/>
          <p:cNvSpPr/>
          <p:nvPr/>
        </p:nvSpPr>
        <p:spPr>
          <a:xfrm>
            <a:off x="8148399" y="4878467"/>
            <a:ext cx="2777490" cy="347186"/>
          </a:xfrm>
          <a:prstGeom prst="rect">
            <a:avLst/>
          </a:prstGeom>
          <a:noFill/>
          <a:ln/>
        </p:spPr>
        <p:txBody>
          <a:bodyPr wrap="none" rtlCol="0" anchor="t"/>
          <a:lstStyle/>
          <a:p>
            <a:pPr indent="0" marL="0">
              <a:lnSpc>
                <a:spcPts val="2734"/>
              </a:lnSpc>
              <a:buNone/>
            </a:pPr>
            <a:r>
              <a:rPr lang="en-US" sz="2187" b="1" spc="-66" kern="0" dirty="0">
                <a:solidFill>
                  <a:srgbClr val="272525"/>
                </a:solidFill>
                <a:latin typeface="Inter" pitchFamily="34" charset="0"/>
                <a:ea typeface="Inter" pitchFamily="34" charset="-122"/>
                <a:cs typeface="Inter" pitchFamily="34" charset="-120"/>
              </a:rPr>
              <a:t>구현</a:t>
            </a:r>
            <a:endParaRPr lang="en-US" sz="2187" dirty="0"/>
          </a:p>
        </p:txBody>
      </p:sp>
      <p:sp>
        <p:nvSpPr>
          <p:cNvPr id="20" name="Text 18"/>
          <p:cNvSpPr/>
          <p:nvPr/>
        </p:nvSpPr>
        <p:spPr>
          <a:xfrm>
            <a:off x="8148399" y="5358884"/>
            <a:ext cx="4444008" cy="999768"/>
          </a:xfrm>
          <a:prstGeom prst="rect">
            <a:avLst/>
          </a:prstGeom>
          <a:noFill/>
          <a:ln/>
        </p:spPr>
        <p:txBody>
          <a:bodyPr wrap="square" rtlCol="0" anchor="t"/>
          <a:lstStyle/>
          <a:p>
            <a:pPr indent="0" marL="0">
              <a:lnSpc>
                <a:spcPts val="2624"/>
              </a:lnSpc>
              <a:buNone/>
            </a:pPr>
            <a:r>
              <a:rPr lang="en-US" sz="1750" spc="-35" kern="0" dirty="0">
                <a:solidFill>
                  <a:srgbClr val="272525"/>
                </a:solidFill>
                <a:latin typeface="Inter" pitchFamily="34" charset="0"/>
                <a:ea typeface="Inter" pitchFamily="34" charset="-122"/>
                <a:cs typeface="Inter" pitchFamily="34" charset="-120"/>
              </a:rPr>
              <a:t>해당 프로젝트는 구현 자체로 의미가 있음을 알게 되었습니다. 현재 해당 기술을 구현할 수 있는 개발자 및 정보가 매우 희소합니다.</a:t>
            </a:r>
            <a:endParaRPr lang="en-US" sz="1750" dirty="0"/>
          </a:p>
        </p:txBody>
      </p:sp>
      <p:pic>
        <p:nvPicPr>
          <p:cNvPr id="2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2024-06-14T04:13:17Z</dcterms:created>
  <dcterms:modified xsi:type="dcterms:W3CDTF">2024-06-14T04:13:17Z</dcterms:modified>
</cp:coreProperties>
</file>